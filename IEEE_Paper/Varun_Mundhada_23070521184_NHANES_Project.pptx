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Design-Based KPI Estimation and Survey-Weighted Machine Learning for Undiagnosed Diabetes Screening on NHANES 2017-2018</a:t>
            </a:r>
          </a:p>
          <a:p>
            <a:pPr>
              <a:spcBef>
                <a:spcPts val="1000"/>
              </a:spcBef>
              <a:defRPr sz="2200">
                <a:solidFill>
                  <a:srgbClr val="DDE6F2"/>
                </a:solidFill>
              </a:defRPr>
            </a:pPr>
            <a:r>
              <a:t>Varun Mundhada  |  PRN 23070521184</a:t>
            </a:r>
          </a:p>
          <a:p>
            <a:pPr>
              <a:spcBef>
                <a:spcPts val="1000"/>
              </a:spcBef>
              <a:defRPr sz="1800">
                <a:solidFill>
                  <a:srgbClr val="DDE6F2"/>
                </a:solidFill>
              </a:defRPr>
            </a:pPr>
            <a:r>
              <a:t>B.Tech CSE, Semester VII  |  Healthcare Analytics, CA3 Mini Project</a:t>
            </a:r>
          </a:p>
          <a:p>
            <a:pPr>
              <a:spcBef>
                <a:spcPts val="1000"/>
              </a:spcBef>
              <a:defRPr sz="1800">
                <a:solidFill>
                  <a:srgbClr val="DDE6F2"/>
                </a:solidFill>
              </a:defRPr>
            </a:pPr>
            <a:r>
              <a:t>Symbiosis Institute of Technology, Nagpur</a:t>
            </a:r>
          </a:p>
          <a:p>
            <a:pPr>
              <a:spcBef>
                <a:spcPts val="1000"/>
              </a:spcBef>
              <a:defRPr sz="1600">
                <a:solidFill>
                  <a:srgbClr val="DDE6F2"/>
                </a:solidFill>
              </a:defRPr>
            </a:pPr>
            <a:r>
              <a:t>Code: https://github.com/varunmundhada/nhanes-healthcare-analytics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Problem: disease that has never been diagnosed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Varun Mundhada  |  PRN 23070521184  |  Healthcare Analytics  |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Hospital records, claims and registries only see people who reached care</a:t>
            </a:r>
          </a:p>
          <a:p>
            <a:pPr>
              <a:spcAft>
                <a:spcPts val="800"/>
              </a:spcAft>
              <a:defRPr sz="2000"/>
            </a:pPr>
            <a:r>
              <a:t>• Someone with undetected diabetes or hypertension appears in none of them</a:t>
            </a:r>
          </a:p>
          <a:p>
            <a:pPr>
              <a:spcAft>
                <a:spcPts val="800"/>
              </a:spcAft>
              <a:defRPr sz="2000"/>
            </a:pPr>
            <a:r>
              <a:t>• NHANES interviews and physically examines a national US sample, so it can measure undiagnosed disease</a:t>
            </a:r>
          </a:p>
          <a:p>
            <a:pPr>
              <a:spcAft>
                <a:spcPts val="800"/>
              </a:spcAft>
              <a:defRPr sz="2000"/>
            </a:pPr>
            <a:r>
              <a:t>• Course brief: build a three-tier KPI dashboard (executive, tactical, operational) with rates per 100,000</a:t>
            </a:r>
          </a:p>
          <a:p>
            <a:pPr>
              <a:spcAft>
                <a:spcPts val="800"/>
              </a:spcAft>
              <a:defRPr sz="2000"/>
            </a:pPr>
            <a:r>
              <a:t>• Our question: how large is the diagnosis gap, who does it affect, and can simple non-lab information find these people?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Objectives and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Varun Mundhada  |  PRN 23070521184  |  Healthcare Analytics  |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Survey-weighted pipeline: 612 KPI estimates with valid 95% confidence intervals</a:t>
            </a:r>
          </a:p>
          <a:p>
            <a:pPr>
              <a:spcAft>
                <a:spcPts val="800"/>
              </a:spcAft>
              <a:defRPr sz="2000"/>
            </a:pPr>
            <a:r>
              <a:t>• Income inequality with the concentration index (pooled and within age bands)</a:t>
            </a:r>
          </a:p>
          <a:p>
            <a:pPr>
              <a:spcAft>
                <a:spcPts val="800"/>
              </a:spcAft>
              <a:defRPr sz="2000"/>
            </a:pPr>
            <a:r>
              <a:t>• Three-tier Streamlit dashboard across three domains</a:t>
            </a:r>
          </a:p>
          <a:p>
            <a:pPr>
              <a:spcAft>
                <a:spcPts val="800"/>
              </a:spcAft>
              <a:defRPr sz="1700"/>
            </a:pPr>
            <a:r>
              <a:t>    - Utilisation and patient experience, chronic disease surveillance, access and capacity</a:t>
            </a:r>
          </a:p>
          <a:p>
            <a:pPr>
              <a:spcAft>
                <a:spcPts val="800"/>
              </a:spcAft>
              <a:defRPr sz="2000"/>
            </a:pPr>
            <a:r>
              <a:t>• Screening models for undiagnosed diabetes: LR, RF, gradient boosting, MLP vs the ADA risk score</a:t>
            </a:r>
          </a:p>
          <a:p>
            <a:pPr>
              <a:spcAft>
                <a:spcPts val="800"/>
              </a:spcAft>
              <a:defRPr sz="2000"/>
            </a:pPr>
            <a:r>
              <a:t>• Comparison with 7 published models; 26 references (20 from 2021 or later)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Dataset: NHANES 2017-2018 (CDC / NCHS)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Varun Mundhada  |  PRN 23070521184  |  Healthcare Analytics  |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766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11 public-use files: DEMO, GHB, BPXO, BMX, DIQ, BPQ, MCQ, HUQ, HIQ, DPQ, RXQ_RX</a:t>
            </a:r>
          </a:p>
          <a:p>
            <a:pPr>
              <a:spcAft>
                <a:spcPts val="800"/>
              </a:spcAft>
              <a:defRPr sz="1800"/>
            </a:pPr>
            <a:r>
              <a:t>• Merged on SEQN: 9,254 people, no duplicates</a:t>
            </a:r>
          </a:p>
          <a:p>
            <a:pPr>
              <a:spcAft>
                <a:spcPts val="800"/>
              </a:spcAft>
              <a:defRPr sz="1800"/>
            </a:pPr>
            <a:r>
              <a:t>• Stratified multistage sample: 15 strata, 30 PSUs, design degrees of freedom = 15</a:t>
            </a:r>
          </a:p>
          <a:p>
            <a:pPr>
              <a:spcAft>
                <a:spcPts val="800"/>
              </a:spcAft>
              <a:defRPr sz="1800"/>
            </a:pPr>
            <a:r>
              <a:t>• Weights: WTMEC2YR for exam/lab indicators, WTINT2YR for interview-only indicators</a:t>
            </a:r>
          </a:p>
          <a:p>
            <a:pPr>
              <a:spcAft>
                <a:spcPts val="800"/>
              </a:spcAft>
              <a:defRPr sz="1800"/>
            </a:pPr>
            <a:r>
              <a:t>• 17 binary indicators for adults 18+; codes 7/9 (refused, don't know) set to missing</a:t>
            </a:r>
          </a:p>
          <a:p>
            <a:pPr>
              <a:spcAft>
                <a:spcPts val="800"/>
              </a:spcAft>
              <a:defRPr sz="1800"/>
            </a:pPr>
            <a:r>
              <a:t>• No geography in public files, so the state map uses CDC PLACES (separate, model-based)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79" y="1463040"/>
          <a:ext cx="4297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9260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Example indicators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Utilisation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Fair/poor health, admitted 12m, 4+ visits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Chronic disease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Diabetes (HbA1c), undiagnosed DM/HTN, obesity, PHQ-9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Access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Uninsured, usual source of care, polypharmacy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Varun Mundhada  |  PRN 23070521184  |  Healthcare Analytics  |  5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881360" cy="51582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Design-based estimation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Varun Mundhada  |  PRN 23070521184  |  Healthcare Analytics  |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Weighted prevalence: p = sum(w y) / sum(w)</a:t>
            </a:r>
          </a:p>
          <a:p>
            <a:pPr>
              <a:spcAft>
                <a:spcPts val="800"/>
              </a:spcAft>
              <a:defRPr sz="2000"/>
            </a:pPr>
            <a:r>
              <a:t>• Taylor-linearised variance over strata and PSUs (with-replacement approximation)</a:t>
            </a:r>
          </a:p>
          <a:p>
            <a:pPr>
              <a:spcAft>
                <a:spcPts val="800"/>
              </a:spcAft>
              <a:defRPr sz="2000"/>
            </a:pPr>
            <a:r>
              <a:t>• Logit-scale 95% CI with t(0.975, 15) = 2.131 instead of 1.96</a:t>
            </a:r>
          </a:p>
          <a:p>
            <a:pPr>
              <a:spcAft>
                <a:spcPts val="800"/>
              </a:spcAft>
              <a:defRPr sz="2000"/>
            </a:pPr>
            <a:r>
              <a:t>• Suppress a cell if RSE &gt; 30% or n &lt; 30 (NCHS standard): 53 of 612 cells suppressed</a:t>
            </a:r>
          </a:p>
          <a:p>
            <a:pPr>
              <a:spcAft>
                <a:spcPts val="800"/>
              </a:spcAft>
              <a:defRPr sz="2000"/>
            </a:pPr>
            <a:r>
              <a:t>• Concentration index C = (2 / mu) cov_w(y, R), tie-corrected rank for top-coded income; Erreygers E = 4 mu C</a:t>
            </a:r>
          </a:p>
          <a:p>
            <a:pPr>
              <a:spcAft>
                <a:spcPts val="800"/>
              </a:spcAft>
              <a:defRPr sz="2000"/>
            </a:pPr>
            <a:r>
              <a:t>• Direct age standardisation to the US 2000 standard population (8 adult groups)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Three-tier dashboard (Streamlit)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Varun Mundhada  |  PRN 23070521184  |  Healthcare Analytics  |  7</a:t>
            </a:r>
          </a:p>
        </p:txBody>
      </p:sp>
      <p:pic>
        <p:nvPicPr>
          <p:cNvPr id="5" name="Picture 4" descr="dashboard_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47120" cy="4628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55555"/>
                </a:solidFill>
              </a:defRPr>
            </a:pPr>
            <a:r>
              <a:t>L1 tiles with CI, RSE and n  -&gt;  L2 breakdowns by age, sex, race, income  -&gt;  L3 analytical charts. Suppressed cells shown grey, never as zero.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results: the diagnosis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Varun Mundhada  |  PRN 23070521184  |  Healthcare Analytics  |  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69494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822960"/>
                <a:gridCol w="1371600"/>
                <a:gridCol w="822960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Indicator (adults 18+)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Any diabetes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13.4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12.1-14.8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5,843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Undiagnosed diabetes (of HbA1c &gt;= 6.5%)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14.8-21.7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Undiagnosed hypertension, 130/80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49.9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45.4-54.4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2,059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Obesity (BMI &gt;= 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42.0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38.2-45.8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5,434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Uninsured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13.9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10.3-18.5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5,837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Fair/poor self-rated 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16.6-20.8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5,849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280160"/>
            <a:ext cx="4023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About 4.2 million US adults had undiagnosed diabetes</a:t>
            </a:r>
          </a:p>
          <a:p>
            <a:pPr>
              <a:spcAft>
                <a:spcPts val="800"/>
              </a:spcAft>
              <a:defRPr sz="1700"/>
            </a:pPr>
            <a:r>
              <a:t>• Borderline answers counted as undiagnosed: 23.4%</a:t>
            </a:r>
          </a:p>
          <a:p>
            <a:pPr>
              <a:spcAft>
                <a:spcPts val="800"/>
              </a:spcAft>
              <a:defRPr sz="1700"/>
            </a:pPr>
            <a:r>
              <a:t>• Hypertension gap is inflated by single-visit BP, so diabetes anchors the finding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Who is affected: income inequality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Varun Mundhada  |  PRN 23070521184  |  Healthcare Analytics  |  9</a:t>
            </a:r>
          </a:p>
        </p:txBody>
      </p:sp>
      <p:pic>
        <p:nvPicPr>
          <p:cNvPr id="5" name="Picture 4" descr="stackedbar_access_by_p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726468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28016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Uninsured: C = -0.42 (E = -0.24), strongly concentrated among the poor</a:t>
            </a:r>
          </a:p>
          <a:p>
            <a:pPr>
              <a:spcAft>
                <a:spcPts val="800"/>
              </a:spcAft>
              <a:defRPr sz="1700"/>
            </a:pPr>
            <a:r>
              <a:t>• Steeper within age bands (-0.39 to -0.53), so not a Medicare effect</a:t>
            </a:r>
          </a:p>
          <a:p>
            <a:pPr>
              <a:spcAft>
                <a:spcPts val="800"/>
              </a:spcAft>
              <a:defRPr sz="1700"/>
            </a:pPr>
            <a:r>
              <a:t>• Undiagnosed diabetes: C = -0.01, flat</a:t>
            </a:r>
          </a:p>
          <a:p>
            <a:pPr>
              <a:spcAft>
                <a:spcPts val="800"/>
              </a:spcAft>
              <a:defRPr sz="1700"/>
            </a:pPr>
            <a:r>
              <a:t>• Insurance closes the access gap, but screening must reach every income group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Validation against published NCHS estimates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Varun Mundhada  |  PRN 23070521184  |  Healthcare Analytics  | 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77440"/>
                <a:gridCol w="237744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Indicator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This study (age-std.)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Published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Obesity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41.8%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42.4%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Hales et al., Data Brief 360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Hypertension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Ostchega et al., Data Brief 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Any diabetes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13.5%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13.2% (12.0-14.5)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CDC National Diabetes Statistics Report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474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Hypertension match may hide offsetting definitions (theirs counts medication users)</a:t>
            </a:r>
          </a:p>
          <a:p>
            <a:pPr>
              <a:spcAft>
                <a:spcPts val="800"/>
              </a:spcAft>
              <a:defRPr sz="1700"/>
            </a:pPr>
            <a:r>
              <a:t>• Diabetes not lower despite omitting fasting glucose: an open question we report, not explain away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Screening model: setup and hyperparameters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Varun Mundhada  |  PRN 23070521184  |  Healthcare Analytics  |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• Cohort: adults 20+, never told diabetes, HbA1c known: n = 4,051, 150 cases (3.7%)</a:t>
            </a:r>
          </a:p>
          <a:p>
            <a:pPr>
              <a:spcAft>
                <a:spcPts val="800"/>
              </a:spcAft>
              <a:defRPr sz="1700"/>
            </a:pPr>
            <a:r>
              <a:t>• Target: HbA1c &gt;= 6.5% (undiagnosed diabetes); 18 non-lab features</a:t>
            </a:r>
          </a:p>
          <a:p>
            <a:pPr>
              <a:spcAft>
                <a:spcPts val="800"/>
              </a:spcAft>
              <a:defRPr sz="1700"/>
            </a:pPr>
            <a:r>
              <a:t>• Nested CV: 5 outer folds, 3-fold inner grid search on weighted AUC; MEC weights in fit and evaluation</a:t>
            </a:r>
          </a:p>
          <a:p>
            <a:pPr>
              <a:spcAft>
                <a:spcPts val="800"/>
              </a:spcAft>
              <a:defRPr sz="1700"/>
            </a:pPr>
            <a:r>
              <a:t>• Baseline: adapted ADA risk score (5 of 7 items, max 9, cut-off &gt;= 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749039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21040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Search space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 in {0.01, 0.1, 1, 10}, L2, balanced classes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500 trees; depth in {4, 8, none}; min leaf in {5, 20}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lr in {0.03, 0.1}; depth in {2, 3}; L2 in {0, 1}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hidden (16) or (32,16); alpha in {0.001, 0.1}; Adam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Screening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Varun Mundhada  |  PRN 23070521184  |  Healthcare Analytics  |  12</a:t>
            </a:r>
          </a:p>
        </p:txBody>
      </p:sp>
      <p:pic>
        <p:nvPicPr>
          <p:cNvPr id="5" name="Picture 4" descr="ml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4652246" cy="4206240"/>
          </a:xfrm>
          <a:prstGeom prst="rect">
            <a:avLst/>
          </a:prstGeom>
        </p:spPr>
      </p:pic>
      <p:pic>
        <p:nvPicPr>
          <p:cNvPr id="6" name="Picture 5" descr="ml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280160"/>
            <a:ext cx="5800954" cy="35661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572000"/>
          <a:ext cx="7315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10896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Pooled weighted AUC (95% CI)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Sens @ 80% spec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0.788 (0.732-0.841)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0.62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0.759 (0.691-0.820)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0.737 (0.673-0.804)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0.53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ADA score (adapted)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0.734 (0.689-0.775)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MLP (unweighted)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0.552 (0.474-0.628)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0.21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38160" y="4572000"/>
            <a:ext cx="37490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0392B"/>
                </a:solidFill>
              </a:defRPr>
            </a:pPr>
            <a:r>
              <a:t>LR gain over ADA: +0.057 (95% CI -0.007 to +0.114), not significant with 150 cases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Comparison with published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Varun Mundhada  |  PRN 23070521184  |  Healthcare Analytics  |  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572000"/>
                <a:gridCol w="3566160"/>
              </a:tblGrid>
              <a:tr h="3657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Data / outcome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Best reported 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De Silva 2021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NHANES, undiagnosed T2D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LR 0.757; ADA 0.737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Choi 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KNHANES, undiagnosed DM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LightGBM 0.819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Qin 2022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NHANES, fasting glucose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CatBoost 0.83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Riveros Perez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NHANES, self-reported T2D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XGBoost 0.817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Liu 2025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NHANES 1999-2020, undiagnosed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AutoML 0.909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This work (weighted)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NHANES 2017-18, undiagnosed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LR 0.788; ADA 0.734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5720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Our ADA AUC matches De Silva et al. (0.734 vs 0.737); like them, no significant ML gain</a:t>
            </a:r>
          </a:p>
          <a:p>
            <a:pPr>
              <a:spcAft>
                <a:spcPts val="800"/>
              </a:spcAft>
              <a:defRPr sz="1600"/>
            </a:pPr>
            <a:r>
              <a:t>• None of the benchmarks used survey weights, so their AUCs describe the sample, not the US population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Limitations, conclusion and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Varun Mundhada  |  PRN 23070521184  |  Healthcare Analytics  |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Limitations: cross-sectional; HbA1c-only diabetes; single-visit BP; no public geography; ML bootstrap ignores clustering</a:t>
            </a:r>
          </a:p>
          <a:p>
            <a:pPr>
              <a:spcAft>
                <a:spcPts val="800"/>
              </a:spcAft>
              <a:defRPr sz="1800"/>
            </a:pPr>
            <a:r>
              <a:t>• Two data bugs found and fixed (prescription placeholder row, COPD variable name)</a:t>
            </a:r>
          </a:p>
          <a:p>
            <a:pPr>
              <a:spcAft>
                <a:spcPts val="800"/>
              </a:spcAft>
              <a:defRPr sz="1800"/>
            </a:pPr>
            <a:r>
              <a:t>• 18.0% of adults with diabetes by HbA1c are undiagnosed, and the gap is not income-graded</a:t>
            </a:r>
          </a:p>
          <a:p>
            <a:pPr>
              <a:spcAft>
                <a:spcPts val="800"/>
              </a:spcAft>
              <a:defRPr sz="1800"/>
            </a:pPr>
            <a:r>
              <a:t>• A weighted logistic regression on 18 non-lab inputs reaches AUC 0.788 vs 0.734 for the ADA score</a:t>
            </a:r>
          </a:p>
          <a:p>
            <a:pPr>
              <a:spcAft>
                <a:spcPts val="800"/>
              </a:spcAft>
              <a:defRPr sz="1800"/>
            </a:pPr>
            <a:r>
              <a:t>• Next: add fasting glucose, pool 2017-2023 cycles, validate on 2021-2023</a:t>
            </a:r>
          </a:p>
          <a:p>
            <a:pPr>
              <a:spcAft>
                <a:spcPts val="800"/>
              </a:spcAft>
              <a:defRPr sz="1800"/>
            </a:pPr>
            <a:r>
              <a:t>• Code and data pipeline: https://github.com/varunmundhada/nhanes-healthcare-analytics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